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69" r:id="rId4"/>
    <p:sldId id="260" r:id="rId5"/>
    <p:sldId id="261" r:id="rId6"/>
    <p:sldId id="262" r:id="rId7"/>
    <p:sldId id="263" r:id="rId8"/>
    <p:sldId id="272" r:id="rId9"/>
    <p:sldId id="273" r:id="rId10"/>
    <p:sldId id="274" r:id="rId11"/>
    <p:sldId id="264" r:id="rId12"/>
    <p:sldId id="265" r:id="rId13"/>
    <p:sldId id="266" r:id="rId14"/>
    <p:sldId id="275" r:id="rId15"/>
    <p:sldId id="268" r:id="rId16"/>
    <p:sldId id="276" r:id="rId1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Sora" panose="020B0604020202020204" charset="0"/>
      <p:bold r:id="rId23"/>
      <p:italic r:id="rId24"/>
      <p:boldItalic r:id="rId25"/>
    </p:embeddedFont>
    <p:embeddedFont>
      <p:font typeface="Tahoma" panose="020B0604030504040204" pitchFamily="34" charset="0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77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648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961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10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243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83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8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41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12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-6-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6-4.svg"/><Relationship Id="rId5" Type="http://schemas.openxmlformats.org/officeDocument/2006/relationships/image" Target="../media/image8.png"/><Relationship Id="rId4" Type="http://schemas.openxmlformats.org/officeDocument/2006/relationships/image" Target="../media/image-6-2.svg"/><Relationship Id="rId9" Type="http://schemas.openxmlformats.org/officeDocument/2006/relationships/image" Target="../media/image-6-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6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7-4.svg"/><Relationship Id="rId5" Type="http://schemas.openxmlformats.org/officeDocument/2006/relationships/image" Target="../media/image11.png"/><Relationship Id="rId4" Type="http://schemas.openxmlformats.org/officeDocument/2006/relationships/image" Target="../media/image-7-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8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-8-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-9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-10-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4-6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4-4.sv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-14-2.sv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3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1285875"/>
            <a:ext cx="914400" cy="28575"/>
          </a:xfrm>
          <a:prstGeom prst="rect">
            <a:avLst/>
          </a:prstGeom>
          <a:solidFill>
            <a:srgbClr val="9FC5E8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85800" y="1543050"/>
            <a:ext cx="778668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19"/>
              </a:lnSpc>
              <a:buNone/>
            </a:pPr>
            <a:r>
              <a:rPr lang="en-US" sz="338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Predicting Customer Churn at SyriaTel Using Machine Learning</a:t>
            </a:r>
            <a:endParaRPr lang="en-US" sz="3380" dirty="0"/>
          </a:p>
        </p:txBody>
      </p:sp>
      <p:sp>
        <p:nvSpPr>
          <p:cNvPr id="6" name="Text 2"/>
          <p:cNvSpPr/>
          <p:nvPr/>
        </p:nvSpPr>
        <p:spPr>
          <a:xfrm>
            <a:off x="1828800" y="2671763"/>
            <a:ext cx="55006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FFFFFF">
                    <a:alpha val="9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Strategic Initiative for Customer Retention and Revenue Protection</a:t>
            </a:r>
            <a:r>
              <a:rPr lang="en-US" sz="1350" b="1" dirty="0" smtClean="0">
                <a:solidFill>
                  <a:srgbClr val="FFFFFF">
                    <a:alpha val="9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</a:p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 smtClean="0">
                <a:solidFill>
                  <a:srgbClr val="FFFFFF">
                    <a:alpha val="9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 </a:t>
            </a:r>
            <a:r>
              <a:rPr lang="en-US" sz="1350" b="1" dirty="0">
                <a:solidFill>
                  <a:srgbClr val="FFFFFF">
                    <a:alpha val="9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Diana </a:t>
            </a:r>
            <a:r>
              <a:rPr lang="en-US" sz="1350" b="1" dirty="0" smtClean="0">
                <a:solidFill>
                  <a:srgbClr val="FFFFFF">
                    <a:alpha val="9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Byegon</a:t>
            </a:r>
          </a:p>
          <a:p>
            <a:pPr marL="0" indent="0" algn="ctr">
              <a:lnSpc>
                <a:spcPts val="1795"/>
              </a:lnSpc>
              <a:buNone/>
            </a:pP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643188" y="3586163"/>
            <a:ext cx="1678781" cy="271463"/>
          </a:xfrm>
          <a:prstGeom prst="roundRect">
            <a:avLst>
              <a:gd name="adj" fmla="val 50000"/>
            </a:avLst>
          </a:prstGeom>
          <a:solidFill>
            <a:srgbClr val="9DC4EB">
              <a:alpha val="10000"/>
            </a:srgbClr>
          </a:solidFill>
          <a:ln w="10160">
            <a:solidFill>
              <a:srgbClr val="9FC3E8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400550" y="3586163"/>
            <a:ext cx="2128838" cy="271463"/>
          </a:xfrm>
          <a:prstGeom prst="roundRect">
            <a:avLst>
              <a:gd name="adj" fmla="val 50000"/>
            </a:avLst>
          </a:prstGeom>
          <a:solidFill>
            <a:srgbClr val="9DC4EB">
              <a:alpha val="10000"/>
            </a:srgbClr>
          </a:solidFill>
          <a:ln w="10160">
            <a:solidFill>
              <a:srgbClr val="9FC3E8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635788" y="3586163"/>
            <a:ext cx="1693579" cy="271463"/>
          </a:xfrm>
          <a:prstGeom prst="rect">
            <a:avLst/>
          </a:prstGeom>
          <a:noFill/>
          <a:ln/>
        </p:spPr>
        <p:txBody>
          <a:bodyPr wrap="square" lIns="171450" tIns="57150" rIns="171450" bIns="5715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b="1" kern="0" spc="80" dirty="0">
                <a:solidFill>
                  <a:srgbClr val="9FC5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BRIEFING</a:t>
            </a:r>
            <a:endParaRPr lang="en-US" sz="790" dirty="0"/>
          </a:p>
        </p:txBody>
      </p:sp>
      <p:sp>
        <p:nvSpPr>
          <p:cNvPr id="10" name="Text 6"/>
          <p:cNvSpPr/>
          <p:nvPr/>
        </p:nvSpPr>
        <p:spPr>
          <a:xfrm>
            <a:off x="4391271" y="3586163"/>
            <a:ext cx="2147396" cy="271463"/>
          </a:xfrm>
          <a:prstGeom prst="rect">
            <a:avLst/>
          </a:prstGeom>
          <a:noFill/>
          <a:ln/>
        </p:spPr>
        <p:txBody>
          <a:bodyPr wrap="square" lIns="171450" tIns="57150" rIns="171450" bIns="5715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b="1" kern="0" spc="80" dirty="0">
                <a:solidFill>
                  <a:srgbClr val="9FC5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SYRIATEL COMMUNICATIONS</a:t>
            </a:r>
            <a:endParaRPr lang="en-US" sz="7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Understanding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800100"/>
            <a:ext cx="571500" cy="42863"/>
          </a:xfrm>
          <a:prstGeom prst="rect">
            <a:avLst/>
          </a:prstGeom>
          <a:solidFill>
            <a:srgbClr val="0064B2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2071688"/>
            <a:ext cx="2700338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9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Strategic Objectives</a:t>
            </a:r>
            <a:endParaRPr kumimoji="0" lang="en-US" sz="16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900" y="2500313"/>
            <a:ext cx="26860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SyriaTel is experiencing customer churn, leading to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 loss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increased costs associated with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acquiring new customers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0" y="3507581"/>
            <a:ext cx="26860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202A37">
                    <a:alpha val="6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goal is to develop a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202A37">
                    <a:alpha val="6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predictive model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202A37">
                    <a:alpha val="6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identifies at-risk customers early.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36119" y="1185863"/>
            <a:ext cx="5564981" cy="81438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0160">
            <a:solidFill>
              <a:srgbClr val="EAEEF3"/>
            </a:solidFill>
          </a:ln>
          <a:effectLst>
            <a:outerShdw blurRad="127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36119" y="2171700"/>
            <a:ext cx="5564981" cy="81438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0160">
            <a:solidFill>
              <a:srgbClr val="EAEEF3"/>
            </a:solidFill>
          </a:ln>
          <a:effectLst>
            <a:outerShdw blurRad="127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36119" y="3150394"/>
            <a:ext cx="5564981" cy="81438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0160">
            <a:solidFill>
              <a:srgbClr val="EAEEF3"/>
            </a:solidFill>
          </a:ln>
          <a:effectLst>
            <a:outerShdw blurRad="127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36119" y="4250531"/>
            <a:ext cx="5564981" cy="742950"/>
          </a:xfrm>
          <a:prstGeom prst="roundRect">
            <a:avLst>
              <a:gd name="adj" fmla="val 15385"/>
            </a:avLst>
          </a:prstGeom>
          <a:solidFill>
            <a:srgbClr val="0D436F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14713" y="1364456"/>
            <a:ext cx="457200" cy="457200"/>
          </a:xfrm>
          <a:prstGeom prst="roundRect">
            <a:avLst>
              <a:gd name="adj" fmla="val 18750"/>
            </a:avLst>
          </a:prstGeom>
          <a:solidFill>
            <a:srgbClr val="E6ECF0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43363" y="1493044"/>
            <a:ext cx="15312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Targeted marketing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4713" y="2350294"/>
            <a:ext cx="457200" cy="457200"/>
          </a:xfrm>
          <a:prstGeom prst="roundRect">
            <a:avLst>
              <a:gd name="adj" fmla="val 18750"/>
            </a:avLst>
          </a:prstGeom>
          <a:solidFill>
            <a:srgbClr val="E5EFF7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43363" y="2478881"/>
            <a:ext cx="2096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customer service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14713" y="3328988"/>
            <a:ext cx="457200" cy="457200"/>
          </a:xfrm>
          <a:prstGeom prst="roundRect">
            <a:avLst>
              <a:gd name="adj" fmla="val 18750"/>
            </a:avLst>
          </a:prstGeom>
          <a:solidFill>
            <a:srgbClr val="ECF3FA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43363" y="3457575"/>
            <a:ext cx="2527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Personalized retention strategies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07569" y="4421981"/>
            <a:ext cx="52363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key focus is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minimizing missed churners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as failing to identify these customers represents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lost revenue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13" y="1478756"/>
            <a:ext cx="228600" cy="22860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3" y="2464594"/>
            <a:ext cx="228600" cy="22860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013" y="3443287"/>
            <a:ext cx="228600" cy="228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538" y="785814"/>
            <a:ext cx="2520175" cy="1150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" name="Rectangle 23"/>
          <p:cNvSpPr/>
          <p:nvPr/>
        </p:nvSpPr>
        <p:spPr>
          <a:xfrm>
            <a:off x="395524" y="874971"/>
            <a:ext cx="2254911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Stakeholder </a:t>
            </a:r>
          </a:p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SyrialTel marketing teams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0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3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Data</a:t>
            </a:r>
            <a:r>
              <a:rPr lang="en-US" sz="3200" b="1" dirty="0" smtClean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 Understanding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157" y="1021555"/>
            <a:ext cx="2491408" cy="74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100" b="1" kern="0" spc="140" dirty="0">
                <a:solidFill>
                  <a:srgbClr val="9FC5E8"/>
                </a:solidFill>
                <a:latin typeface="+mj-lt"/>
                <a:ea typeface="Tahoma" pitchFamily="34" charset="-122"/>
                <a:cs typeface="Tahoma" pitchFamily="34" charset="-120"/>
              </a:rPr>
              <a:t>THE CHURN </a:t>
            </a:r>
            <a:r>
              <a:rPr lang="en-US" sz="1100" b="1" kern="0" spc="140" dirty="0" smtClean="0">
                <a:solidFill>
                  <a:srgbClr val="9FC5E8"/>
                </a:solidFill>
                <a:latin typeface="+mj-lt"/>
                <a:ea typeface="Tahoma" pitchFamily="34" charset="-122"/>
                <a:cs typeface="Tahoma" pitchFamily="34" charset="-120"/>
              </a:rPr>
              <a:t>REALITY FROM</a:t>
            </a:r>
          </a:p>
          <a:p>
            <a:pPr marL="0" indent="0" algn="ctr">
              <a:lnSpc>
                <a:spcPts val="1795"/>
              </a:lnSpc>
              <a:buNone/>
            </a:pPr>
            <a:r>
              <a:rPr lang="en-US" sz="1100" b="1" kern="0" spc="140" dirty="0" smtClean="0">
                <a:solidFill>
                  <a:srgbClr val="9FC5E8"/>
                </a:solidFill>
                <a:latin typeface="+mj-lt"/>
                <a:ea typeface="Tahoma" pitchFamily="34" charset="-122"/>
                <a:cs typeface="Tahoma" pitchFamily="34" charset="-120"/>
              </a:rPr>
              <a:t> SYRIALTEL HISTORICAL DATA</a:t>
            </a:r>
            <a:endParaRPr lang="en-US" sz="11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84681" y="914400"/>
            <a:ext cx="3410356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25"/>
              </a:lnSpc>
              <a:buNone/>
            </a:pPr>
            <a:r>
              <a:rPr lang="en-US" sz="1013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14%</a:t>
            </a:r>
            <a:endParaRPr lang="en-US" sz="1013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7787" y="2314575"/>
            <a:ext cx="2657001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030" b="1" dirty="0">
                <a:solidFill>
                  <a:srgbClr val="9FC5E8"/>
                </a:solidFill>
                <a:latin typeface="+mj-lt"/>
                <a:ea typeface="Tahoma" pitchFamily="34" charset="-122"/>
                <a:cs typeface="Tahoma" pitchFamily="34" charset="-120"/>
              </a:rPr>
              <a:t>Average Churn Rate</a:t>
            </a:r>
            <a:endParaRPr lang="en-US" sz="203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0" y="4114800"/>
            <a:ext cx="550068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The analysis is based on </a:t>
            </a:r>
            <a:r>
              <a:rPr lang="en-US" sz="1130" b="1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3,333 records</a:t>
            </a: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with </a:t>
            </a:r>
            <a:r>
              <a:rPr lang="en-US" sz="1130" b="1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no missing </a:t>
            </a:r>
            <a:r>
              <a:rPr lang="en-US" sz="1130" b="1" dirty="0" smtClean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values and </a:t>
            </a:r>
            <a:r>
              <a:rPr lang="en-US" sz="1130" b="1" dirty="0" err="1" smtClean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duplicats</a:t>
            </a:r>
            <a:r>
              <a:rPr lang="en-US" sz="1130" dirty="0" smtClean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, </a:t>
            </a: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ensuring a high-quality data foundation. Features capture both </a:t>
            </a:r>
            <a:r>
              <a:rPr lang="en-US" sz="1130" b="1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behavioral</a:t>
            </a: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1130" b="1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service-related</a:t>
            </a: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drivers.</a:t>
            </a:r>
            <a:endParaRPr lang="en-US" sz="113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943225"/>
            <a:ext cx="2214563" cy="828675"/>
          </a:xfrm>
          <a:prstGeom prst="roundRect">
            <a:avLst>
              <a:gd name="adj" fmla="val 13793"/>
            </a:avLst>
          </a:prstGeom>
          <a:solidFill>
            <a:srgbClr val="25567D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64719" y="2943225"/>
            <a:ext cx="2214563" cy="828675"/>
          </a:xfrm>
          <a:prstGeom prst="roundRect">
            <a:avLst>
              <a:gd name="adj" fmla="val 13793"/>
            </a:avLst>
          </a:prstGeom>
          <a:solidFill>
            <a:srgbClr val="25567D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22181" y="2943225"/>
            <a:ext cx="2214563" cy="828675"/>
          </a:xfrm>
          <a:prstGeom prst="roundRect">
            <a:avLst>
              <a:gd name="adj" fmla="val 13793"/>
            </a:avLst>
          </a:prstGeom>
          <a:solidFill>
            <a:srgbClr val="25567D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5850" y="3114675"/>
            <a:ext cx="19002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3,333</a:t>
            </a:r>
            <a:endParaRPr lang="en-US" sz="169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5850" y="3429000"/>
            <a:ext cx="1900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Total Records Analyzed</a:t>
            </a:r>
            <a:endParaRPr lang="en-US" sz="9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36169" y="3114675"/>
            <a:ext cx="19002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Zero</a:t>
            </a:r>
            <a:endParaRPr lang="en-US" sz="169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36169" y="3352800"/>
            <a:ext cx="1900238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Missing Values </a:t>
            </a:r>
            <a:r>
              <a:rPr lang="en-US" sz="900" dirty="0" smtClean="0">
                <a:solidFill>
                  <a:srgbClr val="FFFFFF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Found</a:t>
            </a:r>
          </a:p>
          <a:p>
            <a:pPr marL="0" indent="0" algn="ctr">
              <a:lnSpc>
                <a:spcPts val="1350"/>
              </a:lnSpc>
              <a:buNone/>
            </a:pPr>
            <a:r>
              <a:rPr lang="en-US" sz="900" dirty="0" smtClean="0">
                <a:solidFill>
                  <a:srgbClr val="FFFFFF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Zero duplicates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sz="9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93631" y="3114675"/>
            <a:ext cx="19002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Class</a:t>
            </a:r>
            <a:endParaRPr lang="en-US" sz="169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93631" y="3429000"/>
            <a:ext cx="1900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Imbalance Noted</a:t>
            </a:r>
            <a:endParaRPr lang="en-US" sz="9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Data Preparation</a:t>
            </a:r>
            <a:endParaRPr lang="en-US" sz="28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0106" y="1085850"/>
            <a:ext cx="57150" cy="3343275"/>
          </a:xfrm>
          <a:prstGeom prst="rect">
            <a:avLst/>
          </a:prstGeom>
          <a:solidFill>
            <a:srgbClr val="DDE7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71550"/>
            <a:ext cx="357188" cy="342900"/>
          </a:xfrm>
          <a:prstGeom prst="roundRect">
            <a:avLst>
              <a:gd name="adj" fmla="val 50000"/>
            </a:avLst>
          </a:prstGeom>
          <a:solidFill>
            <a:srgbClr val="0D436F"/>
          </a:solidFill>
          <a:ln w="508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1</a:t>
            </a:r>
            <a:endParaRPr lang="en-US" sz="9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57300" y="971550"/>
            <a:ext cx="7543800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57300" y="971550"/>
            <a:ext cx="7543800" cy="8286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1656"/>
            <a:ext cx="357188" cy="342900"/>
          </a:xfrm>
          <a:prstGeom prst="roundRect">
            <a:avLst>
              <a:gd name="adj" fmla="val 50000"/>
            </a:avLst>
          </a:prstGeom>
          <a:solidFill>
            <a:srgbClr val="0064B2"/>
          </a:solidFill>
          <a:ln w="508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2</a:t>
            </a:r>
            <a:endParaRPr lang="en-US" sz="9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57300" y="1821656"/>
            <a:ext cx="7543800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57300" y="1821656"/>
            <a:ext cx="7543800" cy="8286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664619"/>
            <a:ext cx="357188" cy="342900"/>
          </a:xfrm>
          <a:prstGeom prst="roundRect">
            <a:avLst>
              <a:gd name="adj" fmla="val 50000"/>
            </a:avLst>
          </a:prstGeom>
          <a:solidFill>
            <a:srgbClr val="0064B2"/>
          </a:solidFill>
          <a:ln w="508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3</a:t>
            </a:r>
            <a:endParaRPr lang="en-US" sz="90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57300" y="2664619"/>
            <a:ext cx="7543800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257300" y="2664619"/>
            <a:ext cx="7543800" cy="8286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3514725"/>
            <a:ext cx="357188" cy="34290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 w="508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4</a:t>
            </a:r>
            <a:endParaRPr lang="en-US" sz="900" dirty="0">
              <a:latin typeface="+mj-lt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257300" y="3514725"/>
            <a:ext cx="75438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57300" y="3514725"/>
            <a:ext cx="7543800" cy="1028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57325" y="1143000"/>
            <a:ext cx="720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Step 1: Cleaning</a:t>
            </a:r>
            <a:endParaRPr lang="en-US" sz="1350" dirty="0">
              <a:latin typeface="+mj-lt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457325" y="1428750"/>
            <a:ext cx="7200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Removed irrelevant features such as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phone number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state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to focus on predictive signals.</a:t>
            </a:r>
            <a:endParaRPr lang="en-US" sz="1010" dirty="0">
              <a:latin typeface="+mj-l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457325" y="1993106"/>
            <a:ext cx="720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Step 2: Encoding</a:t>
            </a:r>
            <a:endParaRPr lang="en-US" sz="1350" dirty="0">
              <a:latin typeface="+mj-lt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457325" y="2278856"/>
            <a:ext cx="7200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Encoded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categorical variables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into numeric format to ensure compatibility with machine learning algorithms.</a:t>
            </a:r>
            <a:endParaRPr lang="en-US" sz="1010" dirty="0">
              <a:latin typeface="+mj-lt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457325" y="2836069"/>
            <a:ext cx="720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Step 3</a:t>
            </a:r>
            <a:r>
              <a:rPr lang="en-US" sz="1350" b="1" dirty="0" smtClean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: Splitting</a:t>
            </a:r>
            <a:endParaRPr lang="en-US" sz="1350" dirty="0">
              <a:latin typeface="+mj-lt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457325" y="3121819"/>
            <a:ext cx="7200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Split data into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training and testing sets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to allow for unbiased model evaluation.</a:t>
            </a:r>
            <a:endParaRPr lang="en-US" sz="1010" dirty="0">
              <a:latin typeface="+mj-lt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457325" y="3686175"/>
            <a:ext cx="720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Step 4: Scaling</a:t>
            </a:r>
            <a:endParaRPr lang="en-US" sz="1350" dirty="0">
              <a:latin typeface="+mj-lt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457325" y="3971925"/>
            <a:ext cx="7186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Applied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feature scaling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for Logistic Regression and prevented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data leakage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by fitting transformations only on training data.</a:t>
            </a:r>
            <a:endParaRPr lang="en-US" sz="101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>
                <a:solidFill>
                  <a:srgbClr val="0D436F"/>
                </a:solidFill>
                <a:ea typeface="Tahoma" pitchFamily="34" charset="-122"/>
                <a:cs typeface="Tahoma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8700" y="2486025"/>
            <a:ext cx="7086600" cy="57150"/>
          </a:xfrm>
          <a:prstGeom prst="rect">
            <a:avLst/>
          </a:prstGeom>
          <a:solidFill>
            <a:srgbClr val="DDE7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43050" y="1485900"/>
            <a:ext cx="585788" cy="571500"/>
          </a:xfrm>
          <a:prstGeom prst="roundRect">
            <a:avLst>
              <a:gd name="adj" fmla="val 20000"/>
            </a:avLst>
          </a:prstGeom>
          <a:solidFill>
            <a:srgbClr val="0D436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2286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85800" y="2286000"/>
            <a:ext cx="2286000" cy="125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86250" y="1485900"/>
            <a:ext cx="585788" cy="571500"/>
          </a:xfrm>
          <a:prstGeom prst="roundRect">
            <a:avLst>
              <a:gd name="adj" fmla="val 20000"/>
            </a:avLst>
          </a:prstGeom>
          <a:solidFill>
            <a:srgbClr val="0064B2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29000" y="2286000"/>
            <a:ext cx="2286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29000" y="2286000"/>
            <a:ext cx="2286000" cy="1257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9450" y="1485900"/>
            <a:ext cx="585788" cy="571500"/>
          </a:xfrm>
          <a:prstGeom prst="roundRect">
            <a:avLst>
              <a:gd name="adj" fmla="val 20000"/>
            </a:avLst>
          </a:prstGeom>
          <a:solidFill>
            <a:srgbClr val="9FC5E8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172200" y="2286000"/>
            <a:ext cx="22860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72200" y="2286000"/>
            <a:ext cx="2286000" cy="1257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43050" y="1485900"/>
            <a:ext cx="5857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ea typeface="Tahoma" pitchFamily="34" charset="-122"/>
                <a:cs typeface="Tahoma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57250" y="2457450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ea typeface="Tahoma" pitchFamily="34" charset="-122"/>
                <a:cs typeface="Tahoma" pitchFamily="34" charset="-120"/>
              </a:rPr>
              <a:t>Stage 1: Baseline</a:t>
            </a:r>
            <a:endParaRPr lang="en-US" sz="1130" dirty="0"/>
          </a:p>
        </p:txBody>
      </p:sp>
      <p:sp>
        <p:nvSpPr>
          <p:cNvPr id="15" name="Text 10"/>
          <p:cNvSpPr/>
          <p:nvPr/>
        </p:nvSpPr>
        <p:spPr>
          <a:xfrm>
            <a:off x="857250" y="2771775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0064B2"/>
                </a:solidFill>
                <a:ea typeface="Tahoma" pitchFamily="34" charset="-122"/>
                <a:cs typeface="Tahoma" pitchFamily="34" charset="-120"/>
              </a:rPr>
              <a:t>Logistic Regression</a:t>
            </a:r>
            <a:endParaRPr lang="en-US" sz="1010" dirty="0"/>
          </a:p>
        </p:txBody>
      </p:sp>
      <p:sp>
        <p:nvSpPr>
          <p:cNvPr id="16" name="Text 11"/>
          <p:cNvSpPr/>
          <p:nvPr/>
        </p:nvSpPr>
        <p:spPr>
          <a:xfrm>
            <a:off x="857250" y="3028950"/>
            <a:ext cx="1957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Simple and interpretable. High accuracy but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poor churn detection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.</a:t>
            </a:r>
            <a:endParaRPr lang="en-US" sz="790" dirty="0"/>
          </a:p>
        </p:txBody>
      </p:sp>
      <p:sp>
        <p:nvSpPr>
          <p:cNvPr id="17" name="Text 12"/>
          <p:cNvSpPr/>
          <p:nvPr/>
        </p:nvSpPr>
        <p:spPr>
          <a:xfrm>
            <a:off x="4286250" y="1485900"/>
            <a:ext cx="5857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ea typeface="Tahoma" pitchFamily="34" charset="-122"/>
                <a:cs typeface="Tahoma" pitchFamily="34" charset="-120"/>
              </a:rPr>
              <a:t>02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00450" y="2457450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ea typeface="Tahoma" pitchFamily="34" charset="-122"/>
                <a:cs typeface="Tahoma" pitchFamily="34" charset="-120"/>
              </a:rPr>
              <a:t>Stage 2: Improved</a:t>
            </a:r>
            <a:endParaRPr lang="en-US" sz="1130" dirty="0"/>
          </a:p>
        </p:txBody>
      </p:sp>
      <p:sp>
        <p:nvSpPr>
          <p:cNvPr id="19" name="Text 14"/>
          <p:cNvSpPr/>
          <p:nvPr/>
        </p:nvSpPr>
        <p:spPr>
          <a:xfrm>
            <a:off x="3600450" y="2771775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0064B2"/>
                </a:solidFill>
                <a:ea typeface="Tahoma" pitchFamily="34" charset="-122"/>
                <a:cs typeface="Tahoma" pitchFamily="34" charset="-120"/>
              </a:rPr>
              <a:t>Decision Tree</a:t>
            </a:r>
            <a:endParaRPr lang="en-US" sz="1010" dirty="0"/>
          </a:p>
        </p:txBody>
      </p:sp>
      <p:sp>
        <p:nvSpPr>
          <p:cNvPr id="20" name="Text 15"/>
          <p:cNvSpPr/>
          <p:nvPr/>
        </p:nvSpPr>
        <p:spPr>
          <a:xfrm>
            <a:off x="3600450" y="3028950"/>
            <a:ext cx="1957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Captures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non-linear relationships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. Significantly improved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recall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.</a:t>
            </a:r>
            <a:endParaRPr lang="en-US" sz="790" dirty="0"/>
          </a:p>
        </p:txBody>
      </p:sp>
      <p:sp>
        <p:nvSpPr>
          <p:cNvPr id="21" name="Text 16"/>
          <p:cNvSpPr/>
          <p:nvPr/>
        </p:nvSpPr>
        <p:spPr>
          <a:xfrm>
            <a:off x="7029450" y="1485900"/>
            <a:ext cx="5857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ea typeface="Tahoma" pitchFamily="34" charset="-122"/>
                <a:cs typeface="Tahoma" pitchFamily="34" charset="-120"/>
              </a:rPr>
              <a:t>03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43650" y="2457450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ea typeface="Tahoma" pitchFamily="34" charset="-122"/>
                <a:cs typeface="Tahoma" pitchFamily="34" charset="-120"/>
              </a:rPr>
              <a:t>Stage 3: Refined</a:t>
            </a:r>
            <a:endParaRPr lang="en-US" sz="1130" dirty="0"/>
          </a:p>
        </p:txBody>
      </p:sp>
      <p:sp>
        <p:nvSpPr>
          <p:cNvPr id="23" name="Text 18"/>
          <p:cNvSpPr/>
          <p:nvPr/>
        </p:nvSpPr>
        <p:spPr>
          <a:xfrm>
            <a:off x="6343650" y="2771775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0064B2"/>
                </a:solidFill>
                <a:ea typeface="Tahoma" pitchFamily="34" charset="-122"/>
                <a:cs typeface="Tahoma" pitchFamily="34" charset="-120"/>
              </a:rPr>
              <a:t>Tuned Decision Tree</a:t>
            </a:r>
            <a:endParaRPr lang="en-US" sz="1010" dirty="0"/>
          </a:p>
        </p:txBody>
      </p:sp>
      <p:sp>
        <p:nvSpPr>
          <p:cNvPr id="24" name="Text 19"/>
          <p:cNvSpPr/>
          <p:nvPr/>
        </p:nvSpPr>
        <p:spPr>
          <a:xfrm>
            <a:off x="6343650" y="3028950"/>
            <a:ext cx="1957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Reduced complexity via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hyperparameter tuning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ea typeface="Tahoma" pitchFamily="34" charset="-122"/>
                <a:cs typeface="Tahoma" pitchFamily="34" charset="-120"/>
              </a:rPr>
              <a:t>. Controlled for overfitting.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Evaluation</a:t>
            </a:r>
            <a:endParaRPr lang="en-US" sz="28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1619" y="3671888"/>
            <a:ext cx="17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202A37">
                    <a:alpha val="6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Hierarchy of Business Importance</a:t>
            </a:r>
            <a:endParaRPr lang="en-US" sz="9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43450" y="1385888"/>
            <a:ext cx="4057650" cy="177879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743450" y="1385888"/>
            <a:ext cx="4057650" cy="17787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3450" y="3386138"/>
            <a:ext cx="4057650" cy="742950"/>
          </a:xfrm>
          <a:prstGeom prst="roundRect">
            <a:avLst>
              <a:gd name="adj" fmla="val 15385"/>
            </a:avLst>
          </a:prstGeom>
          <a:solidFill>
            <a:srgbClr val="EAEEF3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93069" y="1671638"/>
            <a:ext cx="1357313" cy="571500"/>
          </a:xfrm>
          <a:prstGeom prst="roundRect">
            <a:avLst>
              <a:gd name="adj" fmla="val 20000"/>
            </a:avLst>
          </a:prstGeom>
          <a:solidFill>
            <a:srgbClr val="0D436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1556" y="2300288"/>
            <a:ext cx="2707481" cy="542925"/>
          </a:xfrm>
          <a:prstGeom prst="rect">
            <a:avLst/>
          </a:prstGeom>
          <a:solidFill>
            <a:srgbClr val="0064B2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2900" y="2900363"/>
            <a:ext cx="4057650" cy="542925"/>
          </a:xfrm>
          <a:prstGeom prst="rect">
            <a:avLst/>
          </a:prstGeom>
          <a:solidFill>
            <a:srgbClr val="9FC5E8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0" y="1614488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Why Recall Matters</a:t>
            </a:r>
            <a:endParaRPr lang="en-US" sz="135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0" y="1957388"/>
            <a:ext cx="355758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34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Recall</a:t>
            </a:r>
            <a:r>
              <a:rPr lang="en-US" sz="113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is our </a:t>
            </a:r>
            <a:r>
              <a:rPr lang="en-US" sz="113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primary metric</a:t>
            </a:r>
            <a:r>
              <a:rPr lang="en-US" sz="113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for business decision-making.</a:t>
            </a:r>
            <a:endParaRPr lang="en-US" sz="113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0" y="2536031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13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Missing a churner means </a:t>
            </a:r>
            <a:r>
              <a:rPr lang="en-US" sz="113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losing a customer</a:t>
            </a:r>
            <a:r>
              <a:rPr lang="en-US" sz="113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without intervention, which </a:t>
            </a:r>
            <a:r>
              <a:rPr lang="en-US" sz="113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directly impacts revenue</a:t>
            </a:r>
            <a:r>
              <a:rPr lang="en-US" sz="113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.</a:t>
            </a:r>
            <a:endParaRPr lang="en-US" sz="113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14900" y="3557588"/>
            <a:ext cx="37290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The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Confusion Matrix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was utilized to visualize prediction errors across Accuracy, Precision, and F1-score.</a:t>
            </a:r>
            <a:endParaRPr lang="en-US" sz="101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024862" y="1850231"/>
            <a:ext cx="7294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RECALL</a:t>
            </a:r>
            <a:endParaRPr lang="en-US" sz="1350" dirty="0">
              <a:latin typeface="+mj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995890" y="2486025"/>
            <a:ext cx="794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F1-SCORE</a:t>
            </a:r>
            <a:endParaRPr lang="en-US" sz="1130" dirty="0"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8578" y="3086100"/>
            <a:ext cx="170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ACCURACY &amp; PRECISION</a:t>
            </a:r>
            <a:endParaRPr lang="en-US" sz="101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150144"/>
            <a:ext cx="40862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 Regression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1721644"/>
            <a:ext cx="408622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9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 Performance</a:t>
            </a:r>
            <a:endParaRPr kumimoji="0" lang="en-US" sz="16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2150269"/>
            <a:ext cx="40719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model established the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why it was useful for comparison.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900" y="2936081"/>
            <a:ext cx="4057650" cy="1057275"/>
          </a:xfrm>
          <a:prstGeom prst="roundRect">
            <a:avLst>
              <a:gd name="adj" fmla="val 10811"/>
            </a:avLst>
          </a:prstGeom>
          <a:solidFill>
            <a:srgbClr val="E9F0F6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2936081"/>
            <a:ext cx="4057650" cy="1057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43450" y="1393031"/>
            <a:ext cx="4057650" cy="235743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AEEF3"/>
            </a:solidFill>
          </a:ln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0075" y="3164681"/>
            <a:ext cx="35861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emphasizes that although the baseline achieved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accuracy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it performed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poorly at identifying churners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93494" y="1743075"/>
            <a:ext cx="3393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b="1" i="0" u="none" strike="noStrike" kern="0" cap="none" spc="80" normalizeH="0" baseline="0" noProof="0" dirty="0">
                <a:ln>
                  <a:noFill/>
                </a:ln>
                <a:solidFill>
                  <a:srgbClr val="1E2837">
                    <a:alpha val="2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BASELINE RECALL</a:t>
            </a:r>
            <a:endParaRPr kumimoji="0" 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93494" y="2000250"/>
            <a:ext cx="3393281" cy="115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0.18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536406" y="3086100"/>
            <a:ext cx="2471738" cy="314325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  <p:txBody>
          <a:bodyPr wrap="square" lIns="171450" tIns="57150" rIns="171450" bIns="57150" rtlCol="0" anchor="ctr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Churn Identification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54544" y="3143249"/>
            <a:ext cx="2676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 smtClean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⚠️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21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393031"/>
            <a:ext cx="4057650" cy="235743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CEAF5"/>
            </a:solidFill>
          </a:ln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43450" y="1150144"/>
            <a:ext cx="40862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Tree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43450" y="1721644"/>
            <a:ext cx="408622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9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Capturing Complexity</a:t>
            </a:r>
            <a:endParaRPr kumimoji="0" lang="en-US" sz="16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43450" y="2150269"/>
            <a:ext cx="40719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model improved the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churn detection objective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3450" y="2936081"/>
            <a:ext cx="4057650" cy="1057275"/>
          </a:xfrm>
          <a:prstGeom prst="roundRect">
            <a:avLst>
              <a:gd name="adj" fmla="val 10811"/>
            </a:avLst>
          </a:prstGeom>
          <a:solidFill>
            <a:srgbClr val="E9F2F9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3450" y="2936081"/>
            <a:ext cx="4057650" cy="1057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2944" y="1743075"/>
            <a:ext cx="3393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b="1" i="0" u="none" strike="noStrike" kern="0" cap="none" spc="80" normalizeH="0" baseline="0" noProof="0" dirty="0">
                <a:ln>
                  <a:noFill/>
                </a:ln>
                <a:solidFill>
                  <a:srgbClr val="0064B2">
                    <a:alpha val="4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RECALL</a:t>
            </a:r>
            <a:endParaRPr kumimoji="0" 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92944" y="2000250"/>
            <a:ext cx="3393281" cy="115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0.73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00138" y="3086100"/>
            <a:ext cx="2550319" cy="314325"/>
          </a:xfrm>
          <a:prstGeom prst="roundRect">
            <a:avLst>
              <a:gd name="adj" fmla="val 50000"/>
            </a:avLst>
          </a:prstGeom>
          <a:solidFill>
            <a:srgbClr val="E5EFF7"/>
          </a:solidFill>
          <a:ln/>
        </p:spPr>
        <p:txBody>
          <a:bodyPr wrap="square" lIns="171450" tIns="57150" rIns="171450" bIns="57150" rtlCol="0" anchor="ctr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Detection Gain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0625" y="3164681"/>
            <a:ext cx="35861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highlights the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Tree’s ability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capture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non-linear relationships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provide a better balance between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precision and recall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52082" y="3143250"/>
            <a:ext cx="2676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📈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8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250156"/>
            <a:ext cx="40862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Tuned Decision Tree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1821656"/>
            <a:ext cx="408622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9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Complexity Management</a:t>
            </a:r>
            <a:endParaRPr kumimoji="0" lang="en-US" sz="16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2250281"/>
            <a:ext cx="40719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Refinement effort used to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 model complexity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 overfitting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900" y="3036094"/>
            <a:ext cx="4057650" cy="857250"/>
          </a:xfrm>
          <a:prstGeom prst="roundRect">
            <a:avLst>
              <a:gd name="adj" fmla="val 13333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3036094"/>
            <a:ext cx="4057650" cy="857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43450" y="1243013"/>
            <a:ext cx="4057650" cy="2657475"/>
          </a:xfrm>
          <a:prstGeom prst="roundRect">
            <a:avLst>
              <a:gd name="adj" fmla="val 10753"/>
            </a:avLst>
          </a:prstGeom>
          <a:solidFill>
            <a:srgbClr val="0D436F"/>
          </a:solidFill>
          <a:ln/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0075" y="3264694"/>
            <a:ext cx="35861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makes clear that tuning did not meaningfully improve </a:t>
            </a:r>
            <a:r>
              <a:rPr kumimoji="0" lang="en-US" sz="113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recall</a:t>
            </a: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beyond the base Decision Tree.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0" y="1585913"/>
            <a:ext cx="337185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86350" y="2443163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2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Stability</a:t>
            </a:r>
            <a:endParaRPr kumimoji="0" lang="en-US" sz="2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86350" y="2843213"/>
            <a:ext cx="3400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Overfitting Protection Achieved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86350" y="3271838"/>
            <a:ext cx="3371850" cy="57150"/>
          </a:xfrm>
          <a:prstGeom prst="roundRect">
            <a:avLst>
              <a:gd name="adj" fmla="val 50000"/>
            </a:avLst>
          </a:prstGeom>
          <a:solidFill>
            <a:srgbClr val="26567E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86350" y="3386138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0.92 Accuracy Maintained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86350" y="3271838"/>
            <a:ext cx="3107531" cy="5715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7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>
                <a:solidFill>
                  <a:srgbClr val="0D43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2900" y="971550"/>
            <a:ext cx="8458200" cy="334327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E0E4E9"/>
            </a:solidFill>
          </a:ln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044" y="978694"/>
            <a:ext cx="8451056" cy="685800"/>
          </a:xfrm>
          <a:prstGeom prst="roundRect">
            <a:avLst>
              <a:gd name="adj" fmla="val 33333"/>
            </a:avLst>
          </a:prstGeom>
          <a:solidFill>
            <a:srgbClr val="0D436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044" y="1664494"/>
          <a:ext cx="8451056" cy="2650332"/>
        </p:xfrm>
        <a:graphic>
          <a:graphicData uri="http://schemas.openxmlformats.org/drawingml/2006/table">
            <a:tbl>
              <a:tblPr/>
              <a:tblGrid>
                <a:gridCol w="247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3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3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3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3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3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 Score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3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Tuned Decision Tree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715" cap="flat" cmpd="sng" algn="ctr">
                      <a:solidFill>
                        <a:srgbClr val="5F67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9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8644" y="1207294"/>
            <a:ext cx="8022431" cy="228600"/>
          </a:xfrm>
          <a:prstGeom prst="roundRect">
            <a:avLst>
              <a:gd name="adj" fmla="val 50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Comparative Performance Metrics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3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8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+mj-lt"/>
                <a:ea typeface="Tahoma" pitchFamily="34" charset="-122"/>
                <a:cs typeface="Tahoma" pitchFamily="34" charset="-120"/>
              </a:rPr>
              <a:t>Key Insights</a:t>
            </a:r>
            <a:endParaRPr lang="en-US" sz="203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971550"/>
            <a:ext cx="2671763" cy="3429000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/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36119" y="971550"/>
            <a:ext cx="2671763" cy="3429000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/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36481" y="971550"/>
            <a:ext cx="2671763" cy="3429000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/>
          <a:effectLst>
            <a:outerShdw blurRad="266700" dist="139700" dir="5400000" algn="bl" rotWithShape="0">
              <a:srgbClr val="000000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1581" y="120015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400" y="2286000"/>
            <a:ext cx="140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Service Friction</a:t>
            </a:r>
            <a:endParaRPr lang="en-US" sz="135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628900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Customers with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frequent customer service calls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are significantly more likely to churn.</a:t>
            </a:r>
            <a:endParaRPr lang="en-US" sz="1010" dirty="0">
              <a:latin typeface="+mj-lt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120015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5592" y="2286000"/>
            <a:ext cx="1434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Usage Intensity</a:t>
            </a:r>
            <a:endParaRPr lang="en-US" sz="135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64719" y="2628900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High usage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(minutes and charges) is associated with an </a:t>
            </a: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increased churn risk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.</a:t>
            </a:r>
            <a:endParaRPr lang="en-US" sz="1010" dirty="0">
              <a:latin typeface="+mj-lt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5163" y="120015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6407" y="2286000"/>
            <a:ext cx="134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Dissatisfaction</a:t>
            </a:r>
            <a:endParaRPr lang="en-US" sz="1350" dirty="0">
              <a:latin typeface="+mj-lt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365081" y="2628900"/>
            <a:ext cx="22288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9"/>
              </a:lnSpc>
              <a:buNone/>
            </a:pPr>
            <a:r>
              <a:rPr lang="en-US" sz="1010" b="1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Customer dissatisfaction</a:t>
            </a:r>
            <a:r>
              <a:rPr lang="en-US" sz="1010" dirty="0">
                <a:solidFill>
                  <a:srgbClr val="1F2937"/>
                </a:solidFill>
                <a:latin typeface="+mj-lt"/>
                <a:ea typeface="Tahoma" pitchFamily="34" charset="-122"/>
                <a:cs typeface="Tahoma" pitchFamily="34" charset="-120"/>
              </a:rPr>
              <a:t> remains a major driver of churn across the SyriaTel dataset.</a:t>
            </a:r>
            <a:endParaRPr lang="en-US" sz="1010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25149" y="857250"/>
            <a:ext cx="4114800" cy="628650"/>
          </a:xfrm>
          <a:prstGeom prst="roundRect">
            <a:avLst>
              <a:gd name="adj" fmla="val 18182"/>
            </a:avLst>
          </a:prstGeom>
          <a:solidFill>
            <a:srgbClr val="0D436F"/>
          </a:solidFill>
          <a:ln/>
          <a:effectLst>
            <a:outerShdw blurRad="139700" dist="1016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28700" y="1828800"/>
            <a:ext cx="710088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The Decision Tree model outperformed the baseline, correctly identifying </a:t>
            </a:r>
            <a:r>
              <a:rPr lang="en-US" sz="2700" b="1" dirty="0">
                <a:solidFill>
                  <a:srgbClr val="0064B2"/>
                </a:solidFill>
                <a:latin typeface="+mj-lt"/>
                <a:ea typeface="Tahoma" pitchFamily="34" charset="-122"/>
                <a:cs typeface="Tahoma" pitchFamily="34" charset="-120"/>
              </a:rPr>
              <a:t>73% of churners</a:t>
            </a:r>
            <a:r>
              <a:rPr lang="en-US" sz="27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.</a:t>
            </a:r>
            <a:endParaRPr lang="en-US" sz="27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3457575"/>
            <a:ext cx="1828800" cy="28575"/>
          </a:xfrm>
          <a:prstGeom prst="rect">
            <a:avLst/>
          </a:prstGeom>
          <a:solidFill>
            <a:srgbClr val="0064B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829050"/>
            <a:ext cx="641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350" dirty="0">
                <a:solidFill>
                  <a:srgbClr val="1F2937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This provides the best balance between </a:t>
            </a:r>
            <a:r>
              <a:rPr lang="en-US" sz="1350" b="1" dirty="0">
                <a:solidFill>
                  <a:srgbClr val="1F2937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performance</a:t>
            </a:r>
            <a:r>
              <a:rPr lang="en-US" sz="1350" dirty="0">
                <a:solidFill>
                  <a:srgbClr val="1F2937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1350" b="1" dirty="0">
                <a:solidFill>
                  <a:srgbClr val="1F2937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business value</a:t>
            </a:r>
            <a:r>
              <a:rPr lang="en-US" sz="1350" dirty="0">
                <a:solidFill>
                  <a:srgbClr val="1F2937">
                    <a:alpha val="8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for SyriaTel's retention strategy.</a:t>
            </a:r>
            <a:endParaRPr lang="en-US" sz="135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2348" y="971550"/>
            <a:ext cx="3260035" cy="450056"/>
          </a:xfrm>
          <a:prstGeom prst="rect">
            <a:avLst/>
          </a:prstGeom>
          <a:noFill/>
          <a:ln/>
        </p:spPr>
        <p:txBody>
          <a:bodyPr wrap="square" lIns="228600" tIns="57150" rIns="228600" bIns="57150" rtlCol="0" anchor="t"/>
          <a:lstStyle/>
          <a:p>
            <a:pPr marL="0" indent="0" algn="ctr">
              <a:lnSpc>
                <a:spcPts val="2248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Tahoma" pitchFamily="34" charset="-122"/>
                <a:cs typeface="Tahoma" pitchFamily="34" charset="-120"/>
              </a:rPr>
              <a:t>Conclusion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Recommendations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1143000"/>
            <a:ext cx="2671763" cy="2857500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1143000"/>
            <a:ext cx="2671763" cy="2857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6119" y="1143000"/>
            <a:ext cx="2671763" cy="2857500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6119" y="1143000"/>
            <a:ext cx="2671763" cy="2857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36481" y="1143000"/>
            <a:ext cx="2671763" cy="2857500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6481" y="1143000"/>
            <a:ext cx="2671763" cy="2857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0" y="13716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ECF0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71500" y="2057400"/>
            <a:ext cx="2243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Identification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71500" y="2457450"/>
            <a:ext cx="22288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Tree model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identify customers at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risk of churn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before they leave the network.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464719" y="13716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5EFF7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464719" y="2057400"/>
            <a:ext cx="2243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64B2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Retention Tactics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464719" y="2457450"/>
            <a:ext cx="22288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Personalized offers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Proactive customer support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 or pricing adjustments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365081" y="13716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CF3FA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365081" y="2057400"/>
            <a:ext cx="2243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D436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 Protection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65081" y="2457450"/>
            <a:ext cx="22288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early identification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reduce customer attrition and </a:t>
            </a:r>
            <a:r>
              <a:rPr kumimoji="0" lang="en-US" sz="1010" b="1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 corporate revenue</a:t>
            </a:r>
            <a:r>
              <a:rPr kumimoji="0" lang="en-US" sz="1010" b="0" i="0" u="none" strike="noStrike" kern="1200" cap="none" spc="0" normalizeH="0" baseline="0" noProof="0" dirty="0">
                <a:ln>
                  <a:noFill/>
                </a:ln>
                <a:solidFill>
                  <a:srgbClr val="1F2938">
                    <a:alpha val="7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485900"/>
            <a:ext cx="228600" cy="22860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9019" y="1485900"/>
            <a:ext cx="228600" cy="22860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381" y="14859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84867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8"/>
              </a:lnSpc>
              <a:buNone/>
            </a:pPr>
            <a:r>
              <a:rPr lang="en-US" sz="203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Next Steps</a:t>
            </a:r>
            <a:endParaRPr lang="en-US" sz="203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4450556"/>
            <a:ext cx="84582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4450556"/>
            <a:ext cx="8458200" cy="5715"/>
          </a:xfrm>
          <a:prstGeom prst="rect">
            <a:avLst/>
          </a:prstGeom>
          <a:solidFill>
            <a:srgbClr val="E0E4E9"/>
          </a:solidFill>
          <a:ln w="12700">
            <a:solidFill>
              <a:srgbClr val="E0E4E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57325"/>
            <a:ext cx="7772400" cy="57150"/>
          </a:xfrm>
          <a:prstGeom prst="rect">
            <a:avLst/>
          </a:prstGeom>
          <a:solidFill>
            <a:srgbClr val="C7D4E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0" y="4629150"/>
            <a:ext cx="15268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SyriaTel Communications</a:t>
            </a:r>
            <a:endParaRPr lang="en-US" sz="9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28750" y="13144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436F"/>
          </a:solidFill>
          <a:ln w="1016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07569" y="13144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064B2"/>
          </a:solidFill>
          <a:ln w="1016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3531" y="13144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064B2"/>
          </a:solidFill>
          <a:ln w="1016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72350" y="13144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 w="101600">
            <a:solidFill>
              <a:srgbClr val="F5F9FD"/>
            </a:solidFill>
          </a:ln>
          <a:effectLst>
            <a:outerShdw blurRad="76200" dist="50800" dir="5400000" algn="bl" rotWithShape="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1885950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Advanced Modeling</a:t>
            </a:r>
            <a:endParaRPr lang="en-US" sz="113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200275"/>
            <a:ext cx="1843088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Explore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Random Forest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Gradient Boosting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to further enhance predictive accuracy.</a:t>
            </a:r>
            <a:endParaRPr lang="en-US" sz="79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64619" y="1885950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Data Optimization</a:t>
            </a:r>
            <a:endParaRPr lang="en-US" sz="113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64619" y="2200275"/>
            <a:ext cx="18430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Address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class imbalance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and enhance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feature engineering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for deeper nuances.</a:t>
            </a:r>
            <a:endParaRPr lang="en-US" sz="79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50581" y="1885950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Operationalization</a:t>
            </a:r>
            <a:endParaRPr lang="en-US" sz="113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50581" y="2200275"/>
            <a:ext cx="18430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Deploy the model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for real-time prediction within SyriaTel's customer systems.</a:t>
            </a:r>
            <a:endParaRPr lang="en-US" sz="79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29400" y="1885950"/>
            <a:ext cx="1857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30" b="1" dirty="0">
                <a:solidFill>
                  <a:srgbClr val="0D436F"/>
                </a:solidFill>
                <a:latin typeface="+mj-lt"/>
                <a:ea typeface="Tahoma" pitchFamily="34" charset="-122"/>
                <a:cs typeface="Tahoma" pitchFamily="34" charset="-120"/>
              </a:rPr>
              <a:t>Continuous Learning</a:t>
            </a:r>
            <a:endParaRPr lang="en-US" sz="113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2200275"/>
            <a:ext cx="18430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6"/>
              </a:lnSpc>
              <a:buNone/>
            </a:pP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Continuously </a:t>
            </a:r>
            <a:r>
              <a:rPr lang="en-US" sz="790" b="1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retrain the model</a:t>
            </a:r>
            <a:r>
              <a:rPr lang="en-US" sz="790" dirty="0">
                <a:solidFill>
                  <a:srgbClr val="1F2938">
                    <a:alpha val="70000"/>
                  </a:srgbClr>
                </a:solidFill>
                <a:latin typeface="+mj-lt"/>
                <a:ea typeface="Tahoma" pitchFamily="34" charset="-122"/>
                <a:cs typeface="Tahoma" pitchFamily="34" charset="-120"/>
              </a:rPr>
              <a:t> as customer behavior and market trends evolve.</a:t>
            </a:r>
            <a:endParaRPr lang="en-US" sz="79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3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164431"/>
            <a:ext cx="7329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914400" y="569842"/>
            <a:ext cx="7343775" cy="259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ra" pitchFamily="34" charset="0"/>
              <a:ea typeface="+mn-ea"/>
              <a:cs typeface="Sora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" pitchFamily="34" charset="0"/>
                <a:ea typeface="+mn-ea"/>
                <a:cs typeface="Sora" pitchFamily="34" charset="-120"/>
              </a:rPr>
              <a:t>ANY QUESTIONS?</a:t>
            </a:r>
          </a:p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ra" pitchFamily="34" charset="0"/>
              <a:ea typeface="+mn-ea"/>
              <a:cs typeface="Sora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" pitchFamily="34" charset="0"/>
                <a:ea typeface="+mn-ea"/>
                <a:cs typeface="Sora" pitchFamily="34" charset="-120"/>
              </a:rPr>
              <a:t>THANK YOU!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914400" y="2707481"/>
            <a:ext cx="7329488" cy="70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4286250" y="386476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14850" y="386476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9EC5E8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4743450" y="386476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9FC3E8">
              <a:alpha val="30000"/>
            </a:srgb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11549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688</Words>
  <Application>Microsoft Office PowerPoint</Application>
  <PresentationFormat>On-screen Show (16:9)</PresentationFormat>
  <Paragraphs>155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Sora</vt:lpstr>
      <vt:lpstr>Arial</vt:lpstr>
      <vt:lpstr>Tahoma</vt:lpstr>
      <vt:lpstr>SlidesAI Simple</vt:lpstr>
      <vt:lpstr>1_SlidesAI Simple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Churn at SyrialTel Communications using Machine Learning Models.</dc:title>
  <dc:subject>PptxGenJS Presentation</dc:subject>
  <dc:creator>SlidesAI</dc:creator>
  <cp:lastModifiedBy>Diana Byegon</cp:lastModifiedBy>
  <cp:revision>7</cp:revision>
  <dcterms:created xsi:type="dcterms:W3CDTF">2026-05-05T23:47:48Z</dcterms:created>
  <dcterms:modified xsi:type="dcterms:W3CDTF">2026-05-06T01:01:15Z</dcterms:modified>
</cp:coreProperties>
</file>